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Light" charset="1" panose="00000400000000000000"/>
      <p:regular r:id="rId20"/>
    </p:embeddedFont>
    <p:embeddedFont>
      <p:font typeface="Open Sauce Bold" charset="1" panose="00000800000000000000"/>
      <p:regular r:id="rId21"/>
    </p:embeddedFont>
    <p:embeddedFont>
      <p:font typeface="Open Sauce Light" charset="1" panose="00000400000000000000"/>
      <p:regular r:id="rId22"/>
    </p:embeddedFont>
    <p:embeddedFont>
      <p:font typeface="Poppins Bold" charset="1" panose="00000800000000000000"/>
      <p:regular r:id="rId23"/>
    </p:embeddedFont>
    <p:embeddedFont>
      <p:font typeface="Open Sauce" charset="1" panose="00000500000000000000"/>
      <p:regular r:id="rId24"/>
    </p:embeddedFont>
    <p:embeddedFont>
      <p:font typeface="Poppins" charset="1" panose="00000500000000000000"/>
      <p:regular r:id="rId25"/>
    </p:embeddedFont>
    <p:embeddedFont>
      <p:font typeface="Open Sans Light" charset="1" panose="00000000000000000000"/>
      <p:regular r:id="rId26"/>
    </p:embeddedFont>
    <p:embeddedFont>
      <p:font typeface="Poppins Light Italics" charset="1" panose="000004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4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58180" y="1702613"/>
            <a:ext cx="370872" cy="384751"/>
            <a:chOff x="0" y="0"/>
            <a:chExt cx="494495" cy="513001"/>
          </a:xfrm>
        </p:grpSpPr>
        <p:sp>
          <p:nvSpPr>
            <p:cNvPr name="AutoShape 4" id="4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475445" y="19050"/>
              <a:ext cx="0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13740" y="19050"/>
              <a:ext cx="461705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844640" y="6812607"/>
            <a:ext cx="1956554" cy="2445693"/>
          </a:xfrm>
          <a:custGeom>
            <a:avLst/>
            <a:gdLst/>
            <a:ahLst/>
            <a:cxnLst/>
            <a:rect r="r" b="b" t="t" l="l"/>
            <a:pathLst>
              <a:path h="2445693" w="1956554">
                <a:moveTo>
                  <a:pt x="0" y="0"/>
                </a:moveTo>
                <a:lnTo>
                  <a:pt x="1956554" y="0"/>
                </a:lnTo>
                <a:lnTo>
                  <a:pt x="1956554" y="2445693"/>
                </a:lnTo>
                <a:lnTo>
                  <a:pt x="0" y="2445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5890" y="2365951"/>
            <a:ext cx="12788751" cy="506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3"/>
              </a:lnSpc>
            </a:pPr>
            <a:r>
              <a:rPr lang="en-US" sz="7793" spc="-15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DESIGN AND SIMULATION OF A- DIGITAL DATA TRANSMISSION ERROR DETECTION SYSTEM USING XOR LOGIC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1750" y="1952625"/>
            <a:ext cx="702602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GROUP MEMBERS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09701" y="3651761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1750" y="4057069"/>
            <a:ext cx="369094" cy="4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43919" y="6656097"/>
            <a:ext cx="4860048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2620040087-Varshitha Chowdari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0750" y="4057069"/>
            <a:ext cx="506016" cy="4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39648" y="4131695"/>
            <a:ext cx="4131563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2620040074- Abhiram Reddy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6581485"/>
            <a:ext cx="485705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60844" y="4131682"/>
            <a:ext cx="4705521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2620040089- Geethika Devasena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6581485"/>
            <a:ext cx="506016" cy="4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60844" y="6684976"/>
            <a:ext cx="2939497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2620040091- Kaushik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571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810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571750" y="7380455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810750" y="7380455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881015" y="-1112315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563431" y="2847592"/>
            <a:ext cx="1387496" cy="0"/>
          </a:xfrm>
          <a:prstGeom prst="line">
            <a:avLst/>
          </a:prstGeom>
          <a:ln cap="flat" w="9525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176291" y="904875"/>
            <a:ext cx="10829833" cy="8477250"/>
          </a:xfrm>
          <a:custGeom>
            <a:avLst/>
            <a:gdLst/>
            <a:ahLst/>
            <a:cxnLst/>
            <a:rect r="r" b="b" t="t" l="l"/>
            <a:pathLst>
              <a:path h="8477250" w="10829833">
                <a:moveTo>
                  <a:pt x="0" y="0"/>
                </a:moveTo>
                <a:lnTo>
                  <a:pt x="10829832" y="0"/>
                </a:lnTo>
                <a:lnTo>
                  <a:pt x="10829832" y="8477250"/>
                </a:lnTo>
                <a:lnTo>
                  <a:pt x="0" y="847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07" t="0" r="-870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00753" y="0"/>
            <a:ext cx="3876497" cy="10287000"/>
            <a:chOff x="0" y="0"/>
            <a:chExt cx="102097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09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20970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63431" y="1914327"/>
            <a:ext cx="6572250" cy="88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2"/>
              </a:lnSpc>
            </a:pPr>
            <a:r>
              <a:rPr lang="en-US" sz="623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232139"/>
            <a:ext cx="8736701" cy="605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1050" indent="-255525" lvl="1">
              <a:lnSpc>
                <a:spcPts val="4402"/>
              </a:lnSpc>
              <a:buFont typeface="Arial"/>
              <a:buChar char="•"/>
            </a:pPr>
            <a:r>
              <a:rPr lang="en-US" sz="2367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Digital systems communicate using binary data (0s and 1s).</a:t>
            </a:r>
          </a:p>
          <a:p>
            <a:pPr algn="l" marL="511050" indent="-255525" lvl="1">
              <a:lnSpc>
                <a:spcPts val="4402"/>
              </a:lnSpc>
              <a:buFont typeface="Arial"/>
              <a:buChar char="•"/>
            </a:pPr>
            <a:r>
              <a:rPr lang="en-US" sz="2367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During transmission, data may be altered due to noise or interference.</a:t>
            </a:r>
          </a:p>
          <a:p>
            <a:pPr algn="l" marL="511050" indent="-255525" lvl="1">
              <a:lnSpc>
                <a:spcPts val="4402"/>
              </a:lnSpc>
              <a:buFont typeface="Arial"/>
              <a:buChar char="•"/>
            </a:pPr>
            <a:r>
              <a:rPr lang="en-US" sz="2367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A change in even one bit can make the received data incorrect.</a:t>
            </a:r>
          </a:p>
          <a:p>
            <a:pPr algn="l" marL="511050" indent="-255525" lvl="1">
              <a:lnSpc>
                <a:spcPts val="4402"/>
              </a:lnSpc>
              <a:buFont typeface="Arial"/>
              <a:buChar char="•"/>
            </a:pPr>
            <a:r>
              <a:rPr lang="en-US" sz="2367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Therefore, digital systems need mechanisms to detect transmission errors.</a:t>
            </a:r>
          </a:p>
          <a:p>
            <a:pPr algn="l" marL="511050" indent="-255525" lvl="1">
              <a:lnSpc>
                <a:spcPts val="4402"/>
              </a:lnSpc>
              <a:buFont typeface="Arial"/>
              <a:buChar char="•"/>
            </a:pPr>
            <a:r>
              <a:rPr lang="en-US" sz="2367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project uses XOR logic to identify differences between transmitted and received data.</a:t>
            </a:r>
          </a:p>
          <a:p>
            <a:pPr algn="l">
              <a:lnSpc>
                <a:spcPts val="440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5076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345842" y="1856740"/>
            <a:ext cx="3988342" cy="0"/>
          </a:xfrm>
          <a:prstGeom prst="line">
            <a:avLst/>
          </a:prstGeom>
          <a:ln cap="rnd" w="142875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41719" y="105727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98454"/>
            <a:ext cx="12844146" cy="513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4"/>
              </a:lnSpc>
            </a:pPr>
            <a:r>
              <a:rPr lang="en-US" sz="289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The main objectives of this project are:</a:t>
            </a:r>
          </a:p>
          <a:p>
            <a:pPr algn="just">
              <a:lnSpc>
                <a:spcPts val="2894"/>
              </a:lnSpc>
            </a:pPr>
          </a:p>
          <a:p>
            <a:pPr algn="l" marL="624926" indent="-312463" lvl="1">
              <a:lnSpc>
                <a:spcPts val="2894"/>
              </a:lnSpc>
              <a:buFont typeface="Arial"/>
              <a:buChar char="•"/>
            </a:pPr>
            <a:r>
              <a:rPr lang="en-US" sz="28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design a digital err</a:t>
            </a:r>
            <a:r>
              <a:rPr lang="en-US" sz="28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or detection system using XOR logic.</a:t>
            </a:r>
          </a:p>
          <a:p>
            <a:pPr algn="l">
              <a:lnSpc>
                <a:spcPts val="2894"/>
              </a:lnSpc>
            </a:pPr>
          </a:p>
          <a:p>
            <a:pPr algn="l" marL="624926" indent="-312463" lvl="1">
              <a:lnSpc>
                <a:spcPts val="2894"/>
              </a:lnSpc>
              <a:buFont typeface="Arial"/>
              <a:buChar char="•"/>
            </a:pPr>
            <a:r>
              <a:rPr lang="en-US" sz="28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compare transmitted and received binary data.</a:t>
            </a:r>
          </a:p>
          <a:p>
            <a:pPr algn="l">
              <a:lnSpc>
                <a:spcPts val="2894"/>
              </a:lnSpc>
            </a:pPr>
          </a:p>
          <a:p>
            <a:pPr algn="l" marL="624926" indent="-312463" lvl="1">
              <a:lnSpc>
                <a:spcPts val="2894"/>
              </a:lnSpc>
              <a:buFont typeface="Arial"/>
              <a:buChar char="•"/>
            </a:pPr>
            <a:r>
              <a:rPr lang="en-US" sz="28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detect changes in individual data bits.</a:t>
            </a:r>
          </a:p>
          <a:p>
            <a:pPr algn="l">
              <a:lnSpc>
                <a:spcPts val="2894"/>
              </a:lnSpc>
            </a:pPr>
          </a:p>
          <a:p>
            <a:pPr algn="l" marL="624926" indent="-312463" lvl="1">
              <a:lnSpc>
                <a:spcPts val="2894"/>
              </a:lnSpc>
              <a:buFont typeface="Arial"/>
              <a:buChar char="•"/>
            </a:pPr>
            <a:r>
              <a:rPr lang="en-US" sz="28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simulate the designed circuit using digital simulation software.</a:t>
            </a:r>
          </a:p>
          <a:p>
            <a:pPr algn="l">
              <a:lnSpc>
                <a:spcPts val="2894"/>
              </a:lnSpc>
            </a:pPr>
          </a:p>
          <a:p>
            <a:pPr algn="l" marL="624926" indent="-312463" lvl="1">
              <a:lnSpc>
                <a:spcPts val="2894"/>
              </a:lnSpc>
              <a:buFont typeface="Arial"/>
              <a:buChar char="•"/>
            </a:pPr>
            <a:r>
              <a:rPr lang="en-US" sz="28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verify the circuit's operation using different input combinations.</a:t>
            </a:r>
          </a:p>
          <a:p>
            <a:pPr algn="l">
              <a:lnSpc>
                <a:spcPts val="2894"/>
              </a:lnSpc>
            </a:pPr>
          </a:p>
          <a:p>
            <a:pPr algn="l" marL="624926" indent="-312463" lvl="1">
              <a:lnSpc>
                <a:spcPts val="2894"/>
              </a:lnSpc>
              <a:buFont typeface="Arial"/>
              <a:buChar char="•"/>
            </a:pPr>
            <a:r>
              <a:rPr lang="en-US" sz="28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understand the application of XOR gate in digital cammunication.</a:t>
            </a:r>
          </a:p>
          <a:p>
            <a:pPr algn="just">
              <a:lnSpc>
                <a:spcPts val="28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5076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0963" y="4044178"/>
            <a:ext cx="14339315" cy="267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  <a:spcBef>
                <a:spcPct val="0"/>
              </a:spcBef>
            </a:pPr>
            <a:r>
              <a:rPr lang="en-US" b="true" sz="4152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XOR</a:t>
            </a:r>
            <a:r>
              <a:rPr lang="en-US" b="true" sz="4152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ERROR DETECTION</a:t>
            </a:r>
          </a:p>
          <a:p>
            <a:pPr algn="ctr">
              <a:lnSpc>
                <a:spcPts val="3352"/>
              </a:lnSpc>
              <a:spcBef>
                <a:spcPct val="0"/>
              </a:spcBef>
            </a:pPr>
          </a:p>
          <a:p>
            <a:pPr algn="ctr">
              <a:lnSpc>
                <a:spcPts val="3352"/>
              </a:lnSpc>
              <a:spcBef>
                <a:spcPct val="0"/>
              </a:spcBef>
            </a:pPr>
          </a:p>
          <a:p>
            <a:pPr algn="ctr">
              <a:lnSpc>
                <a:spcPts val="3352"/>
              </a:lnSpc>
              <a:spcBef>
                <a:spcPct val="0"/>
              </a:spcBef>
            </a:pPr>
          </a:p>
          <a:p>
            <a:pPr algn="l">
              <a:lnSpc>
                <a:spcPts val="3352"/>
              </a:lnSpc>
            </a:pPr>
            <a:r>
              <a:rPr lang="en-US" b="true" sz="33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→ Compare → Detect → Simulate → Verify → Understand</a:t>
            </a:r>
          </a:p>
          <a:p>
            <a:pPr algn="ctr">
              <a:lnSpc>
                <a:spcPts val="33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84230" y="1471295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6597269" y="-258807"/>
            <a:ext cx="14984114" cy="8397347"/>
          </a:xfrm>
          <a:custGeom>
            <a:avLst/>
            <a:gdLst/>
            <a:ahLst/>
            <a:cxnLst/>
            <a:rect r="r" b="b" t="t" l="l"/>
            <a:pathLst>
              <a:path h="8397347" w="14984114">
                <a:moveTo>
                  <a:pt x="0" y="0"/>
                </a:moveTo>
                <a:lnTo>
                  <a:pt x="14984114" y="0"/>
                </a:lnTo>
                <a:lnTo>
                  <a:pt x="14984114" y="8397348"/>
                </a:lnTo>
                <a:lnTo>
                  <a:pt x="0" y="8397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9890653" y="0"/>
            <a:ext cx="4264457" cy="10287000"/>
            <a:chOff x="0" y="0"/>
            <a:chExt cx="1123149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31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23149">
                  <a:moveTo>
                    <a:pt x="0" y="0"/>
                  </a:moveTo>
                  <a:lnTo>
                    <a:pt x="1123149" y="0"/>
                  </a:lnTo>
                  <a:lnTo>
                    <a:pt x="112314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23149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645314" y="432765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91706" y="652780"/>
            <a:ext cx="6347006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SYSTEM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4230" y="2378498"/>
            <a:ext cx="2348267" cy="6815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</a:t>
            </a: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TRANSMITTER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 │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 │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Binary Data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 ↓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┌───────┐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│  Transmission│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│     Channel     │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└───────┘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  │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  ↓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RECEIVER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  │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  ↓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┌────────┐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│ XOR Logic           │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│ Comparator      │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└────────┘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 │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 ↓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Error Detection</a:t>
            </a:r>
          </a:p>
          <a:p>
            <a:pPr algn="l" marL="0" indent="0" lvl="0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↙         ↘</a:t>
            </a:r>
          </a:p>
          <a:p>
            <a:pPr algn="l">
              <a:lnSpc>
                <a:spcPts val="2397"/>
              </a:lnSpc>
            </a:pPr>
            <a:r>
              <a:rPr lang="en-US" sz="1712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ERROR       NO ERROR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51582" y="2013214"/>
            <a:ext cx="3210575" cy="774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-&gt;TRANSMITTER: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Sends the original  binary data.</a:t>
            </a: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Transmission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-&gt;</a:t>
            </a:r>
            <a:r>
              <a:rPr lang="en-US" sz="2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Channel: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Represents the path thr</a:t>
            </a:r>
            <a:r>
              <a:rPr lang="en-US" sz="23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ough which data travels. An error may occur here.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-&gt;RECEIVER: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Receives the transmitted data.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-&gt;XOR COMPARATOR: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TAKES TWO INPUTS, COMPARES THEM AND SHOWS HOW THEY ARE RELATED.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ERROR INDICATOR: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INDICATES IF A ERROR OCCURS.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21965" y="2127905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941891" y="951013"/>
            <a:ext cx="3503765" cy="3164914"/>
          </a:xfrm>
          <a:custGeom>
            <a:avLst/>
            <a:gdLst/>
            <a:ahLst/>
            <a:cxnLst/>
            <a:rect r="r" b="b" t="t" l="l"/>
            <a:pathLst>
              <a:path h="3164914" w="3503765">
                <a:moveTo>
                  <a:pt x="0" y="0"/>
                </a:moveTo>
                <a:lnTo>
                  <a:pt x="3503765" y="0"/>
                </a:lnTo>
                <a:lnTo>
                  <a:pt x="3503765" y="3164914"/>
                </a:lnTo>
                <a:lnTo>
                  <a:pt x="0" y="31649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450" t="-19718" r="-55044" b="-2223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41891" y="4529590"/>
            <a:ext cx="3312656" cy="2594642"/>
          </a:xfrm>
          <a:custGeom>
            <a:avLst/>
            <a:gdLst/>
            <a:ahLst/>
            <a:cxnLst/>
            <a:rect r="r" b="b" t="t" l="l"/>
            <a:pathLst>
              <a:path h="2594642" w="3312656">
                <a:moveTo>
                  <a:pt x="0" y="0"/>
                </a:moveTo>
                <a:lnTo>
                  <a:pt x="3312656" y="0"/>
                </a:lnTo>
                <a:lnTo>
                  <a:pt x="3312656" y="2594642"/>
                </a:lnTo>
                <a:lnTo>
                  <a:pt x="0" y="2594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1965" y="1214086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WORKING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5585" y="2476320"/>
            <a:ext cx="6141881" cy="634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2030" b="true">
                <a:solidFill>
                  <a:srgbClr val="C3C5C6"/>
                </a:solidFill>
                <a:latin typeface="Poppins Bold"/>
                <a:ea typeface="Poppins Bold"/>
                <a:cs typeface="Poppins Bold"/>
                <a:sym typeface="Poppins Bold"/>
              </a:rPr>
              <a:t>Working Principle</a:t>
            </a:r>
          </a:p>
          <a:p>
            <a:pPr algn="l" marL="0" indent="0" lvl="0">
              <a:lnSpc>
                <a:spcPts val="2843"/>
              </a:lnSpc>
            </a:pPr>
            <a:r>
              <a:rPr lang="en-US" sz="203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system works using the fundamental property of an XOR gate:</a:t>
            </a:r>
          </a:p>
          <a:p>
            <a:pPr algn="l" marL="0" indent="0" lvl="0">
              <a:lnSpc>
                <a:spcPts val="2843"/>
              </a:lnSpc>
            </a:pPr>
            <a:r>
              <a:rPr lang="en-US" sz="203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XOR output is 1 when the two inputs are different.</a:t>
            </a:r>
          </a:p>
          <a:p>
            <a:pPr algn="l" marL="0" indent="0" lvl="0">
              <a:lnSpc>
                <a:spcPts val="2843"/>
              </a:lnSpc>
            </a:pPr>
            <a:r>
              <a:rPr lang="en-US" b="true" sz="2030">
                <a:solidFill>
                  <a:srgbClr val="C3C5C6"/>
                </a:solidFill>
                <a:latin typeface="Poppins Bold"/>
                <a:ea typeface="Poppins Bold"/>
                <a:cs typeface="Poppins Bold"/>
                <a:sym typeface="Poppins Bold"/>
              </a:rPr>
              <a:t>Step-by-step:</a:t>
            </a:r>
          </a:p>
          <a:p>
            <a:pPr algn="l" marL="0" indent="0" lvl="0">
              <a:lnSpc>
                <a:spcPts val="2843"/>
              </a:lnSpc>
            </a:pPr>
            <a:r>
              <a:rPr lang="en-US" sz="2030" u="sng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Step 1:</a:t>
            </a:r>
            <a:r>
              <a:rPr lang="en-US" sz="203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Enter the original binary data.</a:t>
            </a:r>
          </a:p>
          <a:p>
            <a:pPr algn="l" marL="0" indent="0" lvl="0">
              <a:lnSpc>
                <a:spcPts val="2843"/>
              </a:lnSpc>
            </a:pPr>
            <a:r>
              <a:rPr lang="en-US" sz="2030" u="sng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Step 2:</a:t>
            </a:r>
            <a:r>
              <a:rPr lang="en-US" sz="203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The data is transmitted through the channel.</a:t>
            </a:r>
          </a:p>
          <a:p>
            <a:pPr algn="l" marL="0" indent="0" lvl="0">
              <a:lnSpc>
                <a:spcPts val="2843"/>
              </a:lnSpc>
            </a:pPr>
            <a:r>
              <a:rPr lang="en-US" sz="2030" u="sng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Step 3:</a:t>
            </a:r>
            <a:r>
              <a:rPr lang="en-US" sz="203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The receiver receives the data.</a:t>
            </a:r>
          </a:p>
          <a:p>
            <a:pPr algn="l" marL="0" indent="0" lvl="0">
              <a:lnSpc>
                <a:spcPts val="2843"/>
              </a:lnSpc>
            </a:pPr>
            <a:r>
              <a:rPr lang="en-US" sz="2030" u="sng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Step 4:</a:t>
            </a:r>
            <a:r>
              <a:rPr lang="en-US" sz="203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Each transmitted bit is compared with its corresponding received bit using XOR.</a:t>
            </a:r>
          </a:p>
          <a:p>
            <a:pPr algn="l" marL="0" indent="0" lvl="0">
              <a:lnSpc>
                <a:spcPts val="2843"/>
              </a:lnSpc>
            </a:pPr>
            <a:r>
              <a:rPr lang="en-US" sz="2030" u="sng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Step 5:</a:t>
            </a:r>
          </a:p>
          <a:p>
            <a:pPr algn="l" marL="438469" indent="-219234" lvl="1">
              <a:lnSpc>
                <a:spcPts val="2843"/>
              </a:lnSpc>
              <a:buFont typeface="Arial"/>
              <a:buChar char="•"/>
            </a:pPr>
            <a:r>
              <a:rPr lang="en-US" sz="203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Same bits → XOR = 0</a:t>
            </a:r>
          </a:p>
          <a:p>
            <a:pPr algn="l" marL="438469" indent="-219234" lvl="1">
              <a:lnSpc>
                <a:spcPts val="2843"/>
              </a:lnSpc>
              <a:buFont typeface="Arial"/>
              <a:buChar char="•"/>
            </a:pPr>
            <a:r>
              <a:rPr lang="en-US" sz="203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Different bits → XOR = 1</a:t>
            </a:r>
          </a:p>
          <a:p>
            <a:pPr algn="l">
              <a:lnSpc>
                <a:spcPts val="2843"/>
              </a:lnSpc>
            </a:pPr>
            <a:r>
              <a:rPr lang="en-US" sz="2030" u="sng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Step 6:</a:t>
            </a:r>
            <a:r>
              <a:rPr lang="en-US" sz="203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 If any XOR output becomes 1, an error is detected.</a:t>
            </a:r>
          </a:p>
          <a:p>
            <a:pPr algn="l">
              <a:lnSpc>
                <a:spcPts val="284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770920" y="-2743624"/>
            <a:ext cx="18601707" cy="7887124"/>
          </a:xfrm>
          <a:custGeom>
            <a:avLst/>
            <a:gdLst/>
            <a:ahLst/>
            <a:cxnLst/>
            <a:rect r="r" b="b" t="t" l="l"/>
            <a:pathLst>
              <a:path h="7887124" w="18601707">
                <a:moveTo>
                  <a:pt x="18601707" y="0"/>
                </a:moveTo>
                <a:lnTo>
                  <a:pt x="0" y="0"/>
                </a:lnTo>
                <a:lnTo>
                  <a:pt x="0" y="7887124"/>
                </a:lnTo>
                <a:lnTo>
                  <a:pt x="18601707" y="7887124"/>
                </a:lnTo>
                <a:lnTo>
                  <a:pt x="18601707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1671135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71750" y="7435532"/>
            <a:ext cx="18601707" cy="7887124"/>
          </a:xfrm>
          <a:custGeom>
            <a:avLst/>
            <a:gdLst/>
            <a:ahLst/>
            <a:cxnLst/>
            <a:rect r="r" b="b" t="t" l="l"/>
            <a:pathLst>
              <a:path h="7887124" w="18601707">
                <a:moveTo>
                  <a:pt x="0" y="0"/>
                </a:moveTo>
                <a:lnTo>
                  <a:pt x="18601707" y="0"/>
                </a:lnTo>
                <a:lnTo>
                  <a:pt x="18601707" y="7887124"/>
                </a:lnTo>
                <a:lnTo>
                  <a:pt x="0" y="7887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71750" y="1785435"/>
            <a:ext cx="13478546" cy="7581682"/>
          </a:xfrm>
          <a:custGeom>
            <a:avLst/>
            <a:gdLst/>
            <a:ahLst/>
            <a:cxnLst/>
            <a:rect r="r" b="b" t="t" l="l"/>
            <a:pathLst>
              <a:path h="7581682" w="13478546">
                <a:moveTo>
                  <a:pt x="0" y="0"/>
                </a:moveTo>
                <a:lnTo>
                  <a:pt x="13478546" y="0"/>
                </a:lnTo>
                <a:lnTo>
                  <a:pt x="13478546" y="7581682"/>
                </a:lnTo>
                <a:lnTo>
                  <a:pt x="0" y="7581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71750" y="757316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LOGICAL DESIGN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64302" y="-2523381"/>
            <a:ext cx="22216605" cy="9419840"/>
          </a:xfrm>
          <a:custGeom>
            <a:avLst/>
            <a:gdLst/>
            <a:ahLst/>
            <a:cxnLst/>
            <a:rect r="r" b="b" t="t" l="l"/>
            <a:pathLst>
              <a:path h="9419840" w="22216605">
                <a:moveTo>
                  <a:pt x="22216604" y="0"/>
                </a:moveTo>
                <a:lnTo>
                  <a:pt x="0" y="0"/>
                </a:lnTo>
                <a:lnTo>
                  <a:pt x="0" y="9419840"/>
                </a:lnTo>
                <a:lnTo>
                  <a:pt x="22216604" y="9419840"/>
                </a:lnTo>
                <a:lnTo>
                  <a:pt x="22216604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860859" y="1452245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601885" y="2186539"/>
            <a:ext cx="13084230" cy="6498943"/>
          </a:xfrm>
          <a:custGeom>
            <a:avLst/>
            <a:gdLst/>
            <a:ahLst/>
            <a:cxnLst/>
            <a:rect r="r" b="b" t="t" l="l"/>
            <a:pathLst>
              <a:path h="6498943" w="13084230">
                <a:moveTo>
                  <a:pt x="0" y="0"/>
                </a:moveTo>
                <a:lnTo>
                  <a:pt x="13084230" y="0"/>
                </a:lnTo>
                <a:lnTo>
                  <a:pt x="13084230" y="6498943"/>
                </a:lnTo>
                <a:lnTo>
                  <a:pt x="0" y="64989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247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0859" y="652780"/>
            <a:ext cx="12506012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INPUTS, OUTPUTS AND TRUTH TABLE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32695" y="1804710"/>
            <a:ext cx="5751187" cy="0"/>
          </a:xfrm>
          <a:prstGeom prst="line">
            <a:avLst/>
          </a:prstGeom>
          <a:ln cap="rnd" w="5715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7306" y="2748313"/>
            <a:ext cx="11803930" cy="6264458"/>
          </a:xfrm>
          <a:custGeom>
            <a:avLst/>
            <a:gdLst/>
            <a:ahLst/>
            <a:cxnLst/>
            <a:rect r="r" b="b" t="t" l="l"/>
            <a:pathLst>
              <a:path h="6264458" w="11803930">
                <a:moveTo>
                  <a:pt x="0" y="0"/>
                </a:moveTo>
                <a:lnTo>
                  <a:pt x="11803930" y="0"/>
                </a:lnTo>
                <a:lnTo>
                  <a:pt x="11803930" y="6264458"/>
                </a:lnTo>
                <a:lnTo>
                  <a:pt x="0" y="6264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5" t="0" r="-47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306" y="347940"/>
            <a:ext cx="7296243" cy="145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Logisim simulation (error condition)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52816" y="3681203"/>
            <a:ext cx="5551922" cy="383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Since there is a mismatch of 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recieved data bits and the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original data bits,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system detected the mismatch and represented that there is an error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1892" y="-697667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7753" y="2445664"/>
            <a:ext cx="12188784" cy="6527811"/>
          </a:xfrm>
          <a:custGeom>
            <a:avLst/>
            <a:gdLst/>
            <a:ahLst/>
            <a:cxnLst/>
            <a:rect r="r" b="b" t="t" l="l"/>
            <a:pathLst>
              <a:path h="6527811" w="12188784">
                <a:moveTo>
                  <a:pt x="0" y="0"/>
                </a:moveTo>
                <a:lnTo>
                  <a:pt x="12188784" y="0"/>
                </a:lnTo>
                <a:lnTo>
                  <a:pt x="12188784" y="6527811"/>
                </a:lnTo>
                <a:lnTo>
                  <a:pt x="0" y="6527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72" y="366989"/>
            <a:ext cx="7296243" cy="147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Logisim simulation</a:t>
            </a:r>
          </a:p>
          <a:p>
            <a:pPr algn="l">
              <a:lnSpc>
                <a:spcPts val="5700"/>
              </a:lnSpc>
            </a:pPr>
            <a:r>
              <a:rPr lang="en-US" sz="57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(no error condition)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65560" y="3800475"/>
            <a:ext cx="5316069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Since the  original and the recieved data bits match,the system shows no error, meaning that the actual data transmitted, and the data recieved match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350079" y="1844000"/>
            <a:ext cx="6022005" cy="1905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1750" y="1952625"/>
            <a:ext cx="702602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APP</a:t>
            </a: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LICATIONS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486809" y="40283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2256" y="9544050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71750" y="3579344"/>
            <a:ext cx="369094" cy="4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21844" y="3646641"/>
            <a:ext cx="3778358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Computer Communication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10750" y="3579344"/>
            <a:ext cx="50601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60844" y="3682836"/>
            <a:ext cx="2939497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Embedded Systems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1750" y="5225022"/>
            <a:ext cx="485705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21844" y="5328513"/>
            <a:ext cx="4396467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Digital Communication Systems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0750" y="5225022"/>
            <a:ext cx="50601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60844" y="5328513"/>
            <a:ext cx="2939497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Networking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1750" y="7021279"/>
            <a:ext cx="491012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21844" y="7124757"/>
            <a:ext cx="3778358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Memory &amp; Storage Systems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10750" y="7124757"/>
            <a:ext cx="50601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60844" y="7228249"/>
            <a:ext cx="3667982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Serial Communication</a:t>
            </a:r>
          </a:p>
        </p:txBody>
      </p:sp>
      <p:sp>
        <p:nvSpPr>
          <p:cNvPr name="AutoShape 17" id="17"/>
          <p:cNvSpPr/>
          <p:nvPr/>
        </p:nvSpPr>
        <p:spPr>
          <a:xfrm>
            <a:off x="2571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810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2571750" y="6626163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9597770" y="6630926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2571750" y="8719427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9810750" y="8706053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3321844" y="4060702"/>
            <a:ext cx="377835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i="true">
                <a:solidFill>
                  <a:srgbClr val="C3C5C6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Detecting changes in transmitted digital data.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21844" y="5956232"/>
            <a:ext cx="377835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i="true">
                <a:solidFill>
                  <a:srgbClr val="C3C5C6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Checking data integrity during communication.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21844" y="7901997"/>
            <a:ext cx="4131563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i="true">
                <a:solidFill>
                  <a:srgbClr val="C3C5C6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Detecting changes or inconsistencies in stored data.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97766" y="4060675"/>
            <a:ext cx="4393029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i="true">
                <a:solidFill>
                  <a:srgbClr val="C3C5C6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Checking data exchanged between digital components.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83466" y="5830177"/>
            <a:ext cx="4393029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i="true">
                <a:solidFill>
                  <a:srgbClr val="C3C5C6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Basic error detection techniques in data communication.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83466" y="7850470"/>
            <a:ext cx="3980627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i="true">
                <a:solidFill>
                  <a:srgbClr val="C3C5C6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Checking transmitted binary information between devices.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29776" y="-3103089"/>
            <a:ext cx="19353779" cy="8206002"/>
          </a:xfrm>
          <a:custGeom>
            <a:avLst/>
            <a:gdLst/>
            <a:ahLst/>
            <a:cxnLst/>
            <a:rect r="r" b="b" t="t" l="l"/>
            <a:pathLst>
              <a:path h="8206002" w="19353779">
                <a:moveTo>
                  <a:pt x="0" y="0"/>
                </a:moveTo>
                <a:lnTo>
                  <a:pt x="19353779" y="0"/>
                </a:lnTo>
                <a:lnTo>
                  <a:pt x="19353779" y="8206002"/>
                </a:lnTo>
                <a:lnTo>
                  <a:pt x="0" y="820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38625" y="8480478"/>
            <a:ext cx="16475301" cy="6985528"/>
          </a:xfrm>
          <a:custGeom>
            <a:avLst/>
            <a:gdLst/>
            <a:ahLst/>
            <a:cxnLst/>
            <a:rect r="r" b="b" t="t" l="l"/>
            <a:pathLst>
              <a:path h="6985528" w="16475301">
                <a:moveTo>
                  <a:pt x="0" y="0"/>
                </a:moveTo>
                <a:lnTo>
                  <a:pt x="16475301" y="0"/>
                </a:lnTo>
                <a:lnTo>
                  <a:pt x="16475301" y="6985527"/>
                </a:lnTo>
                <a:lnTo>
                  <a:pt x="0" y="6985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894840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763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TOOLS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60300"/>
            <a:ext cx="2060377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3200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</a:t>
            </a:r>
            <a:r>
              <a:rPr lang="en-US" sz="3200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OFTWARE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17452"/>
            <a:ext cx="875705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</a:t>
            </a: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ogisim – Digital circuit design and simulation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31488"/>
            <a:ext cx="428044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3200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DIGI</a:t>
            </a:r>
            <a:r>
              <a:rPr lang="en-US" sz="3200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TAL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784268"/>
            <a:ext cx="6218393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XOR Gate</a:t>
            </a: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</a:t>
            </a:r>
          </a:p>
          <a:p>
            <a:pPr algn="just" marL="647702" indent="-323851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 Gates</a:t>
            </a:r>
          </a:p>
          <a:p>
            <a:pPr algn="just" marL="647702" indent="-323851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Input Switches</a:t>
            </a:r>
          </a:p>
          <a:p>
            <a:pPr algn="just" marL="647702" indent="-323851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LEDs / Logic Indicators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1036" y="4916035"/>
            <a:ext cx="3206800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3200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CONCEPTS USED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1036" y="5568816"/>
            <a:ext cx="5070478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Boolean Algebra</a:t>
            </a:r>
          </a:p>
          <a:p>
            <a:pPr algn="just" marL="647702" indent="-323851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X</a:t>
            </a: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 Logic</a:t>
            </a:r>
          </a:p>
          <a:p>
            <a:pPr algn="just" marL="647702" indent="-323851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Digital Logic Gates</a:t>
            </a:r>
          </a:p>
          <a:p>
            <a:pPr algn="just" marL="647702" indent="-323851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Bi</a:t>
            </a: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nary Data</a:t>
            </a:r>
          </a:p>
          <a:p>
            <a:pPr algn="just" marL="647702" indent="-323851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Error Detection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29776" y="-3103089"/>
            <a:ext cx="19353779" cy="8206002"/>
          </a:xfrm>
          <a:custGeom>
            <a:avLst/>
            <a:gdLst/>
            <a:ahLst/>
            <a:cxnLst/>
            <a:rect r="r" b="b" t="t" l="l"/>
            <a:pathLst>
              <a:path h="8206002" w="19353779">
                <a:moveTo>
                  <a:pt x="0" y="0"/>
                </a:moveTo>
                <a:lnTo>
                  <a:pt x="19353779" y="0"/>
                </a:lnTo>
                <a:lnTo>
                  <a:pt x="19353779" y="8206002"/>
                </a:lnTo>
                <a:lnTo>
                  <a:pt x="0" y="820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38625" y="8480478"/>
            <a:ext cx="16475301" cy="6985528"/>
          </a:xfrm>
          <a:custGeom>
            <a:avLst/>
            <a:gdLst/>
            <a:ahLst/>
            <a:cxnLst/>
            <a:rect r="r" b="b" t="t" l="l"/>
            <a:pathLst>
              <a:path h="6985528" w="16475301">
                <a:moveTo>
                  <a:pt x="0" y="0"/>
                </a:moveTo>
                <a:lnTo>
                  <a:pt x="16475301" y="0"/>
                </a:lnTo>
                <a:lnTo>
                  <a:pt x="16475301" y="6985527"/>
                </a:lnTo>
                <a:lnTo>
                  <a:pt x="0" y="6985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471295"/>
            <a:ext cx="4362966" cy="105419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652780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28352"/>
            <a:ext cx="12173144" cy="68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 XOR-based circuit can be used t</a:t>
            </a: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 detect differences between transmitted and received data.</a:t>
            </a:r>
          </a:p>
          <a:p>
            <a:pPr algn="l">
              <a:lnSpc>
                <a:spcPts val="2604"/>
              </a:lnSpc>
            </a:pPr>
          </a:p>
          <a:p>
            <a:pPr algn="l" marL="647702" indent="-323851" lvl="1">
              <a:lnSpc>
                <a:spcPts val="37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system identifies bit mismatches by producing an XOR output of 1.</a:t>
            </a:r>
          </a:p>
          <a:p>
            <a:pPr algn="l">
              <a:lnSpc>
                <a:spcPts val="2356"/>
              </a:lnSpc>
            </a:pPr>
          </a:p>
          <a:p>
            <a:pPr algn="l" marL="647702" indent="-323851" lvl="1">
              <a:lnSpc>
                <a:spcPts val="37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proposed circuit is simple, low-cost, and easy to simulate.</a:t>
            </a:r>
          </a:p>
          <a:p>
            <a:pPr algn="l">
              <a:lnSpc>
                <a:spcPts val="2604"/>
              </a:lnSpc>
            </a:pPr>
          </a:p>
          <a:p>
            <a:pPr algn="l" marL="647702" indent="-323851" lvl="1">
              <a:lnSpc>
                <a:spcPts val="37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Simulation helps verify the correctness of the designed logic.</a:t>
            </a:r>
          </a:p>
          <a:p>
            <a:pPr algn="l">
              <a:lnSpc>
                <a:spcPts val="2604"/>
              </a:lnSpc>
            </a:pPr>
          </a:p>
          <a:p>
            <a:pPr algn="l" marL="647702" indent="-323851" lvl="1">
              <a:lnSpc>
                <a:spcPts val="37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project demonstrates how digital logic gates can improve data reliability.</a:t>
            </a:r>
          </a:p>
          <a:p>
            <a:pPr algn="l">
              <a:lnSpc>
                <a:spcPts val="3720"/>
              </a:lnSpc>
            </a:pPr>
          </a:p>
          <a:p>
            <a:pPr algn="l">
              <a:lnSpc>
                <a:spcPts val="3720"/>
              </a:lnSpc>
            </a:pPr>
          </a:p>
          <a:p>
            <a:pPr algn="l">
              <a:lnSpc>
                <a:spcPts val="372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“Same bits → No Error | Different bits → Error Detected”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6248" y="7930816"/>
            <a:ext cx="10503398" cy="1099324"/>
            <a:chOff x="0" y="0"/>
            <a:chExt cx="2766327" cy="2895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66327" cy="289534"/>
            </a:xfrm>
            <a:custGeom>
              <a:avLst/>
              <a:gdLst/>
              <a:ahLst/>
              <a:cxnLst/>
              <a:rect r="r" b="b" t="t" l="l"/>
              <a:pathLst>
                <a:path h="289534" w="2766327">
                  <a:moveTo>
                    <a:pt x="12530" y="0"/>
                  </a:moveTo>
                  <a:lnTo>
                    <a:pt x="2753797" y="0"/>
                  </a:lnTo>
                  <a:cubicBezTo>
                    <a:pt x="2760717" y="0"/>
                    <a:pt x="2766327" y="5610"/>
                    <a:pt x="2766327" y="12530"/>
                  </a:cubicBezTo>
                  <a:lnTo>
                    <a:pt x="2766327" y="277003"/>
                  </a:lnTo>
                  <a:cubicBezTo>
                    <a:pt x="2766327" y="283924"/>
                    <a:pt x="2760717" y="289534"/>
                    <a:pt x="2753797" y="289534"/>
                  </a:cubicBezTo>
                  <a:lnTo>
                    <a:pt x="12530" y="289534"/>
                  </a:lnTo>
                  <a:cubicBezTo>
                    <a:pt x="5610" y="289534"/>
                    <a:pt x="0" y="283924"/>
                    <a:pt x="0" y="277003"/>
                  </a:cubicBezTo>
                  <a:lnTo>
                    <a:pt x="0" y="12530"/>
                  </a:lnTo>
                  <a:cubicBezTo>
                    <a:pt x="0" y="5610"/>
                    <a:pt x="5610" y="0"/>
                    <a:pt x="1253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766327" cy="260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DAHTF7pRTHw</dc:identifier>
  <dcterms:modified xsi:type="dcterms:W3CDTF">2011-08-01T06:04:30Z</dcterms:modified>
  <cp:revision>1</cp:revision>
  <dc:title>DDCA</dc:title>
</cp:coreProperties>
</file>